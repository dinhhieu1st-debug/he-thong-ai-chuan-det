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93" r:id="rId6"/>
    <p:sldId id="292" r:id="rId7"/>
    <p:sldId id="261" r:id="rId8"/>
    <p:sldId id="297" r:id="rId9"/>
    <p:sldId id="299" r:id="rId10"/>
    <p:sldId id="301" r:id="rId11"/>
    <p:sldId id="298" r:id="rId12"/>
    <p:sldId id="290" r:id="rId13"/>
  </p:sldIdLst>
  <p:sldSz cx="18288000" cy="10287000"/>
  <p:notesSz cx="6858000" cy="9144000"/>
  <p:embeddedFontLst>
    <p:embeddedFont>
      <p:font typeface="Arial Bold" panose="020B0704020202020204" pitchFamily="34" charset="0"/>
      <p:regular r:id="rId15"/>
      <p:bold r:id="rId16"/>
    </p:embeddedFont>
    <p:embeddedFont>
      <p:font typeface="Arial" panose="020B0604020202020204" pitchFamily="34" charset="0"/>
      <p:regular r:id="rId17"/>
    </p:embeddedFont>
    <p:embeddedFont>
      <p:font typeface="Quattrocento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Quattrocento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6" autoAdjust="0"/>
    <p:restoredTop sz="94622" autoAdjust="0"/>
  </p:normalViewPr>
  <p:slideViewPr>
    <p:cSldViewPr>
      <p:cViewPr varScale="1">
        <p:scale>
          <a:sx n="73" d="100"/>
          <a:sy n="73" d="100"/>
        </p:scale>
        <p:origin x="9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55448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64631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12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6268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12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4081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12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51268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12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96366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1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70010" y="4131469"/>
            <a:ext cx="17217990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dirty="0">
                <a:solidFill>
                  <a:srgbClr val="F37121"/>
                </a:solidFill>
                <a:latin typeface="Arial Bold"/>
                <a:ea typeface="Arial Bold"/>
                <a:cs typeface="Arial Bold"/>
                <a:sym typeface="Arial Bold"/>
              </a:rPr>
              <a:t>Smart IV &amp; Patient Safety Monitoring System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69073" y="8783107"/>
            <a:ext cx="3273904" cy="742950"/>
            <a:chOff x="0" y="0"/>
            <a:chExt cx="4365206" cy="990600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4339717" cy="965200"/>
            </a:xfrm>
            <a:custGeom>
              <a:avLst/>
              <a:gdLst/>
              <a:ahLst/>
              <a:cxnLst/>
              <a:rect l="l" t="t" r="r" b="b"/>
              <a:pathLst>
                <a:path w="4339717" h="965200">
                  <a:moveTo>
                    <a:pt x="0" y="482600"/>
                  </a:moveTo>
                  <a:cubicBezTo>
                    <a:pt x="0" y="216027"/>
                    <a:pt x="220472" y="0"/>
                    <a:pt x="492379" y="0"/>
                  </a:cubicBezTo>
                  <a:lnTo>
                    <a:pt x="3847338" y="0"/>
                  </a:lnTo>
                  <a:cubicBezTo>
                    <a:pt x="4119245" y="0"/>
                    <a:pt x="4339717" y="216027"/>
                    <a:pt x="4339717" y="482600"/>
                  </a:cubicBezTo>
                  <a:cubicBezTo>
                    <a:pt x="4339717" y="749173"/>
                    <a:pt x="4119245" y="965200"/>
                    <a:pt x="3847338" y="965200"/>
                  </a:cubicBezTo>
                  <a:lnTo>
                    <a:pt x="492379" y="965200"/>
                  </a:lnTo>
                  <a:cubicBezTo>
                    <a:pt x="220472" y="965200"/>
                    <a:pt x="0" y="749173"/>
                    <a:pt x="0" y="482600"/>
                  </a:cubicBezTo>
                  <a:close/>
                </a:path>
              </a:pathLst>
            </a:custGeom>
            <a:solidFill>
              <a:srgbClr val="F37121">
                <a:alpha val="3922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365117" cy="990600"/>
            </a:xfrm>
            <a:custGeom>
              <a:avLst/>
              <a:gdLst/>
              <a:ahLst/>
              <a:cxnLst/>
              <a:rect l="l" t="t" r="r" b="b"/>
              <a:pathLst>
                <a:path w="4365117" h="990600">
                  <a:moveTo>
                    <a:pt x="0" y="495300"/>
                  </a:moveTo>
                  <a:cubicBezTo>
                    <a:pt x="0" y="221488"/>
                    <a:pt x="226441" y="0"/>
                    <a:pt x="505079" y="0"/>
                  </a:cubicBezTo>
                  <a:lnTo>
                    <a:pt x="3860038" y="0"/>
                  </a:lnTo>
                  <a:lnTo>
                    <a:pt x="3860038" y="12700"/>
                  </a:lnTo>
                  <a:lnTo>
                    <a:pt x="3860038" y="0"/>
                  </a:lnTo>
                  <a:cubicBezTo>
                    <a:pt x="4138803" y="0"/>
                    <a:pt x="4365117" y="221488"/>
                    <a:pt x="4365117" y="495300"/>
                  </a:cubicBezTo>
                  <a:lnTo>
                    <a:pt x="4352417" y="495300"/>
                  </a:lnTo>
                  <a:lnTo>
                    <a:pt x="4365117" y="495300"/>
                  </a:lnTo>
                  <a:lnTo>
                    <a:pt x="4352417" y="495300"/>
                  </a:lnTo>
                  <a:lnTo>
                    <a:pt x="4365117" y="495300"/>
                  </a:lnTo>
                  <a:cubicBezTo>
                    <a:pt x="4365117" y="769112"/>
                    <a:pt x="4138676" y="990600"/>
                    <a:pt x="3860038" y="990600"/>
                  </a:cubicBezTo>
                  <a:lnTo>
                    <a:pt x="3860038" y="977900"/>
                  </a:lnTo>
                  <a:lnTo>
                    <a:pt x="3860038" y="990600"/>
                  </a:lnTo>
                  <a:lnTo>
                    <a:pt x="505079" y="990600"/>
                  </a:lnTo>
                  <a:lnTo>
                    <a:pt x="505079" y="977900"/>
                  </a:lnTo>
                  <a:lnTo>
                    <a:pt x="505079" y="990600"/>
                  </a:lnTo>
                  <a:cubicBezTo>
                    <a:pt x="226441" y="990600"/>
                    <a:pt x="0" y="769112"/>
                    <a:pt x="0" y="495300"/>
                  </a:cubicBezTo>
                  <a:cubicBezTo>
                    <a:pt x="0" y="492887"/>
                    <a:pt x="635" y="490474"/>
                    <a:pt x="2032" y="488442"/>
                  </a:cubicBezTo>
                  <a:lnTo>
                    <a:pt x="12700" y="495300"/>
                  </a:lnTo>
                  <a:lnTo>
                    <a:pt x="0" y="495300"/>
                  </a:lnTo>
                  <a:moveTo>
                    <a:pt x="25400" y="495300"/>
                  </a:moveTo>
                  <a:cubicBezTo>
                    <a:pt x="25400" y="497713"/>
                    <a:pt x="24765" y="500126"/>
                    <a:pt x="23368" y="502158"/>
                  </a:cubicBezTo>
                  <a:lnTo>
                    <a:pt x="12700" y="495300"/>
                  </a:lnTo>
                  <a:lnTo>
                    <a:pt x="25400" y="495300"/>
                  </a:lnTo>
                  <a:cubicBezTo>
                    <a:pt x="25400" y="754634"/>
                    <a:pt x="239903" y="965200"/>
                    <a:pt x="505079" y="965200"/>
                  </a:cubicBezTo>
                  <a:lnTo>
                    <a:pt x="3860038" y="965200"/>
                  </a:lnTo>
                  <a:cubicBezTo>
                    <a:pt x="4125214" y="965200"/>
                    <a:pt x="4339717" y="754634"/>
                    <a:pt x="4339717" y="495300"/>
                  </a:cubicBezTo>
                  <a:cubicBezTo>
                    <a:pt x="4339717" y="235966"/>
                    <a:pt x="4125214" y="25400"/>
                    <a:pt x="3860038" y="25400"/>
                  </a:cubicBezTo>
                  <a:lnTo>
                    <a:pt x="505079" y="25400"/>
                  </a:lnTo>
                  <a:lnTo>
                    <a:pt x="505079" y="12700"/>
                  </a:lnTo>
                  <a:lnTo>
                    <a:pt x="505079" y="25400"/>
                  </a:lnTo>
                  <a:cubicBezTo>
                    <a:pt x="239903" y="25400"/>
                    <a:pt x="25400" y="235966"/>
                    <a:pt x="25400" y="495300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304249" y="8961301"/>
            <a:ext cx="349654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 smtClean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August , </a:t>
            </a:r>
            <a:r>
              <a:rPr lang="en-US" sz="2400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2026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7059237" y="9659426"/>
            <a:ext cx="711451" cy="29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0010" y="7083114"/>
            <a:ext cx="3143845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 dirty="0">
                <a:solidFill>
                  <a:srgbClr val="F37121"/>
                </a:solidFill>
                <a:latin typeface="Arial Bold"/>
                <a:ea typeface="Arial Bold"/>
                <a:cs typeface="Arial Bold"/>
                <a:sym typeface="Arial Bold"/>
              </a:rPr>
              <a:t>Team ICTU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391213" y="393430"/>
            <a:ext cx="7393124" cy="3202372"/>
            <a:chOff x="0" y="0"/>
            <a:chExt cx="9857499" cy="426982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857486" cy="4269867"/>
            </a:xfrm>
            <a:custGeom>
              <a:avLst/>
              <a:gdLst/>
              <a:ahLst/>
              <a:cxnLst/>
              <a:rect l="l" t="t" r="r" b="b"/>
              <a:pathLst>
                <a:path w="9857486" h="4269867">
                  <a:moveTo>
                    <a:pt x="0" y="0"/>
                  </a:moveTo>
                  <a:lnTo>
                    <a:pt x="9857486" y="0"/>
                  </a:lnTo>
                  <a:lnTo>
                    <a:pt x="9857486" y="4269867"/>
                  </a:lnTo>
                  <a:lnTo>
                    <a:pt x="0" y="4269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21" name="Freeform 21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95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788670" y="285788"/>
            <a:ext cx="15773400" cy="1066622"/>
            <a:chOff x="0" y="0"/>
            <a:chExt cx="21031200" cy="14221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031200" cy="1422165"/>
            </a:xfrm>
            <a:custGeom>
              <a:avLst/>
              <a:gdLst/>
              <a:ahLst/>
              <a:cxnLst/>
              <a:rect l="l" t="t" r="r" b="b"/>
              <a:pathLst>
                <a:path w="21031200" h="1422165">
                  <a:moveTo>
                    <a:pt x="0" y="0"/>
                  </a:moveTo>
                  <a:lnTo>
                    <a:pt x="21031200" y="0"/>
                  </a:lnTo>
                  <a:lnTo>
                    <a:pt x="21031200" y="1422165"/>
                  </a:lnTo>
                  <a:lnTo>
                    <a:pt x="0" y="14221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8147" b="-23814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21031200" cy="1393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 of content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7059237" y="9659426"/>
            <a:ext cx="711451" cy="29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5846" y="1765583"/>
            <a:ext cx="366755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6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Content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70368" y="2552032"/>
            <a:ext cx="308605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1.Introduction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2545" y="3121263"/>
            <a:ext cx="353446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2.The Problem</a:t>
            </a:r>
            <a:endParaRPr lang="en-US" sz="2700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570369" y="3690494"/>
            <a:ext cx="3230232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3.Solution </a:t>
            </a: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Overview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70368" y="4259725"/>
            <a:ext cx="353446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39"/>
              </a:lnSpc>
            </a:pPr>
            <a:r>
              <a:rPr lang="en-US" sz="2699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4.System </a:t>
            </a:r>
            <a:r>
              <a:rPr lang="en-US" sz="2699" dirty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lang="en-US" sz="2699" dirty="0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70367" y="4828956"/>
            <a:ext cx="353446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39"/>
              </a:lnSpc>
            </a:pPr>
            <a:r>
              <a:rPr lang="en-US" sz="2699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AI&amp;TinyML</a:t>
            </a:r>
            <a:endParaRPr lang="en-US" sz="2699" dirty="0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70367" y="5398187"/>
            <a:ext cx="391603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6</a:t>
            </a: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. User </a:t>
            </a: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Flow</a:t>
            </a: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</a:t>
            </a:r>
            <a:endParaRPr lang="en-US" sz="2700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70367" y="5967420"/>
            <a:ext cx="391603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7.Demo </a:t>
            </a:r>
            <a:endParaRPr lang="en-US" sz="2700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061414" y="8695030"/>
            <a:ext cx="711451" cy="29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5846" y="2451688"/>
            <a:ext cx="664585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Team </a:t>
            </a:r>
            <a:r>
              <a:rPr lang="en-US" sz="27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Name:ICTU</a:t>
            </a:r>
            <a:endParaRPr lang="en-US" sz="2700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Team </a:t>
            </a: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Size: 5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Team Lead </a:t>
            </a:r>
            <a:r>
              <a:rPr lang="en-US" sz="27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Name:Lai</a:t>
            </a: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Van Thinh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26" name="Freeform 26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66" b="2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678023" y="4361889"/>
            <a:ext cx="5919804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Name:Lai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Van Thinh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University:Thai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Nguyen University of Information and Communication Technology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Course and Year </a:t>
            </a: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Group:Software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Engineering(Second Year)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Contact Email:thinh1092006@gmail.com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Discord </a:t>
            </a: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Handle:vthihn</a:t>
            </a:r>
            <a:endParaRPr lang="en-US" sz="1800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78023" y="3900145"/>
            <a:ext cx="365502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34EA2"/>
                </a:solidFill>
                <a:latin typeface="Arial" panose="020B0604020202020204" pitchFamily="34" charset="0"/>
                <a:ea typeface="Quattrocento Bold"/>
                <a:cs typeface="Arial" panose="020B0604020202020204" pitchFamily="34" charset="0"/>
                <a:sym typeface="Quattrocento Bold"/>
              </a:rPr>
              <a:t>Team Members (5)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8023" y="6386980"/>
            <a:ext cx="5919804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Name:Dinh Van Hieu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University:Thai Nguyen University of Information and Communication Technology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Course and Year Group:Electronics and Telecommunications Engineering (Year 5)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Contact Email:</a:t>
            </a:r>
            <a:r>
              <a:rPr lang="en-US" sz="1800" u="none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</a:t>
            </a: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inhhieu1s</a:t>
            </a:r>
            <a:r>
              <a:rPr lang="en-US" sz="1800" u="none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t@</a:t>
            </a: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gma</a:t>
            </a:r>
            <a:r>
              <a:rPr lang="en-US" sz="1800" u="none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i</a:t>
            </a: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l.</a:t>
            </a:r>
            <a:r>
              <a:rPr lang="en-US" sz="1800" u="none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</a:t>
            </a: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om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Discord Handle:hieu1804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30678" y="4362746"/>
            <a:ext cx="5902415" cy="195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Name:Pham Van Huynh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University:Thai Nguyen University of Information and Communication Technology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Course and Year Group:Computer Engineering (third year)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Contact Email:huynhpham13790@gmail.com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Discord Handle:huynhca0159_81062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30678" y="6386980"/>
            <a:ext cx="5902415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Name:Ly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</a:t>
            </a: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Khanh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</a:t>
            </a: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Quan</a:t>
            </a:r>
            <a:endParaRPr lang="en-US" sz="1800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University:Thai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Nguyen University of Information and Communication Technology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Course and Year </a:t>
            </a: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Group:Computer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Engineering (final year)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Contact Email: khanhquan2k@gmail.com 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Discord Handle: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65944" y="4361889"/>
            <a:ext cx="5524233" cy="195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Name:Dam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</a:t>
            </a: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Duc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Don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University:Thai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Nguyen University of Information and Communication Technology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Course and Year </a:t>
            </a:r>
            <a:r>
              <a:rPr lang="en-US" sz="1800" dirty="0" err="1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Group:Computer</a:t>
            </a: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 Engineering (third year)</a:t>
            </a:r>
          </a:p>
          <a:p>
            <a:pPr marL="325526" lvl="1" indent="-162763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Contact Email:don123edm@gmail.com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Discord Handle:d_0nt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</a:t>
              </a:r>
              <a:endParaRPr lang="en-US" sz="4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10" name="Freeform 10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66" b="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5</a:t>
            </a:r>
            <a:endParaRPr lang="en-US" sz="1800" dirty="0">
              <a:solidFill>
                <a:srgbClr val="B5B5B5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334000" y="4229100"/>
            <a:ext cx="7620000" cy="517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7200" b="1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THE PROBLEM</a:t>
            </a:r>
            <a:endParaRPr lang="en-US" sz="7200" b="1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</a:t>
              </a:r>
              <a:endParaRPr lang="en-US" sz="4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10" name="Freeform 10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66" b="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5</a:t>
            </a:r>
            <a:endParaRPr lang="en-US" sz="1800" dirty="0">
              <a:solidFill>
                <a:srgbClr val="B5B5B5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5846" y="1765583"/>
            <a:ext cx="592703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2.1.The hidden reality of IV Therapy</a:t>
            </a:r>
            <a:endParaRPr lang="en-US" sz="2700" b="1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543" y="2493735"/>
            <a:ext cx="11709654" cy="638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</a:t>
              </a:r>
              <a:endParaRPr lang="en-US" sz="4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10" name="Freeform 10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66" b="2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-5400000">
            <a:off x="-1592266" y="5749595"/>
            <a:ext cx="5289556" cy="47625"/>
          </a:xfrm>
          <a:custGeom>
            <a:avLst/>
            <a:gdLst/>
            <a:ahLst/>
            <a:cxnLst/>
            <a:rect l="l" t="t" r="r" b="b"/>
            <a:pathLst>
              <a:path w="5289556" h="47625">
                <a:moveTo>
                  <a:pt x="0" y="0"/>
                </a:moveTo>
                <a:lnTo>
                  <a:pt x="5289557" y="0"/>
                </a:lnTo>
                <a:lnTo>
                  <a:pt x="5289557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4466" r="-122375" b="-169694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5</a:t>
            </a:r>
            <a:endParaRPr lang="en-US" sz="1800" dirty="0">
              <a:solidFill>
                <a:srgbClr val="B5B5B5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5846" y="1765583"/>
            <a:ext cx="442955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2.2.Three </a:t>
            </a:r>
            <a:r>
              <a:rPr lang="en-US" sz="2700" b="1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Core Problems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9970" y="3376279"/>
            <a:ext cx="473380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034EA2"/>
                </a:solidFill>
                <a:latin typeface="Arial" panose="020B0604020202020204" pitchFamily="34" charset="0"/>
                <a:ea typeface="Quattrocento Bold"/>
                <a:cs typeface="Arial" panose="020B0604020202020204" pitchFamily="34" charset="0"/>
                <a:sym typeface="Quattrocento Bold"/>
              </a:rPr>
              <a:t>Unstable Gravity-Based Flow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9970" y="4360516"/>
            <a:ext cx="4733809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Gravity-fed systems are inherently vulnerable to environmental factors (temperature, viscosity) and patient movement, directly compromising infusion accuracy.</a:t>
            </a:r>
          </a:p>
        </p:txBody>
      </p:sp>
      <p:sp>
        <p:nvSpPr>
          <p:cNvPr id="16" name="Freeform 16"/>
          <p:cNvSpPr/>
          <p:nvPr/>
        </p:nvSpPr>
        <p:spPr>
          <a:xfrm rot="-5400000">
            <a:off x="3777417" y="5749595"/>
            <a:ext cx="5289556" cy="47625"/>
          </a:xfrm>
          <a:custGeom>
            <a:avLst/>
            <a:gdLst/>
            <a:ahLst/>
            <a:cxnLst/>
            <a:rect l="l" t="t" r="r" b="b"/>
            <a:pathLst>
              <a:path w="5289556" h="47625">
                <a:moveTo>
                  <a:pt x="0" y="0"/>
                </a:moveTo>
                <a:lnTo>
                  <a:pt x="5289556" y="0"/>
                </a:lnTo>
                <a:lnTo>
                  <a:pt x="5289556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4466" r="-122375" b="-169694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602880" y="3376279"/>
            <a:ext cx="547893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034EA2"/>
                </a:solidFill>
                <a:latin typeface="Arial" panose="020B0604020202020204" pitchFamily="34" charset="0"/>
                <a:ea typeface="Quattrocento Bold"/>
                <a:cs typeface="Arial" panose="020B0604020202020204" pitchFamily="34" charset="0"/>
                <a:sym typeface="Quattrocento Bold"/>
              </a:rPr>
              <a:t>Limitations of manual monitoring (Lack of continuity)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76525" y="4360516"/>
            <a:ext cx="4733809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Nurses cannot be omnipresent; it is impossible to manually monitor drop rates at every bedside, every second. This limitation leads to critical delays in identifying risks.</a:t>
            </a:r>
          </a:p>
        </p:txBody>
      </p:sp>
      <p:sp>
        <p:nvSpPr>
          <p:cNvPr id="19" name="Freeform 19"/>
          <p:cNvSpPr/>
          <p:nvPr/>
        </p:nvSpPr>
        <p:spPr>
          <a:xfrm rot="-5400000">
            <a:off x="9617717" y="5749595"/>
            <a:ext cx="5289556" cy="47625"/>
          </a:xfrm>
          <a:custGeom>
            <a:avLst/>
            <a:gdLst/>
            <a:ahLst/>
            <a:cxnLst/>
            <a:rect l="l" t="t" r="r" b="b"/>
            <a:pathLst>
              <a:path w="5289556" h="47625">
                <a:moveTo>
                  <a:pt x="0" y="0"/>
                </a:moveTo>
                <a:lnTo>
                  <a:pt x="5289557" y="0"/>
                </a:lnTo>
                <a:lnTo>
                  <a:pt x="5289557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4466" r="-122375" b="-169694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503079" y="3376279"/>
            <a:ext cx="4733809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034EA2"/>
                </a:solidFill>
                <a:latin typeface="Arial" panose="020B0604020202020204" pitchFamily="34" charset="0"/>
                <a:ea typeface="Quattrocento Bold"/>
                <a:cs typeface="Arial" panose="020B0604020202020204" pitchFamily="34" charset="0"/>
                <a:sym typeface="Quattrocento Bold"/>
              </a:rPr>
              <a:t>Warning threshold (Lacks personalization)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03079" y="4360516"/>
            <a:ext cx="4733809" cy="246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Current alerts are one-size-fits-all. The same flow error may be harmless for a healthy adult, but critical for vulnerable patients (e.g., heart failure, pediatrics).</a:t>
            </a:r>
          </a:p>
        </p:txBody>
      </p:sp>
    </p:spTree>
    <p:extLst>
      <p:ext uri="{BB962C8B-B14F-4D97-AF65-F5344CB8AC3E}">
        <p14:creationId xmlns:p14="http://schemas.microsoft.com/office/powerpoint/2010/main" val="300768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8670" y="307219"/>
            <a:ext cx="15773400" cy="104518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ts val="4536"/>
              </a:lnSpc>
            </a:pPr>
            <a:r>
              <a:rPr lang="en-US" sz="4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Solution Overview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10" name="Freeform 10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66" b="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059237" y="9659426"/>
            <a:ext cx="711451" cy="29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5846" y="1756058"/>
            <a:ext cx="442955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3.Solution </a:t>
            </a:r>
            <a:r>
              <a:rPr lang="en-US" sz="2699" b="1" dirty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1" y="2489483"/>
            <a:ext cx="105537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Our team proposes the Smart IV &amp; Patient Safety Monitoring </a:t>
            </a:r>
            <a:r>
              <a:rPr lang="en-US" sz="2700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lang="en-US" sz="2700" dirty="0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92" y="3208110"/>
            <a:ext cx="10818955" cy="59012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4536"/>
                </a:lnSpc>
              </a:pPr>
              <a:r>
                <a:rPr lang="en-US" sz="42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9</a:t>
            </a:r>
            <a:endParaRPr lang="en-US" sz="1800" dirty="0">
              <a:solidFill>
                <a:srgbClr val="B5B5B5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26" name="Freeform 26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95"/>
              </a:stretch>
            </a:blipFill>
          </p:spPr>
        </p:sp>
      </p:grpSp>
      <p:sp>
        <p:nvSpPr>
          <p:cNvPr id="28" name="TextBox 24"/>
          <p:cNvSpPr txBox="1"/>
          <p:nvPr/>
        </p:nvSpPr>
        <p:spPr>
          <a:xfrm>
            <a:off x="828246" y="1908458"/>
            <a:ext cx="8955996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5.System </a:t>
            </a:r>
            <a:r>
              <a:rPr lang="en-US" sz="27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Architecture&amp;Data</a:t>
            </a:r>
            <a:r>
              <a:rPr lang="en-US" sz="27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1" dirty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955" y="2436081"/>
            <a:ext cx="12236829" cy="667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6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4536"/>
                </a:lnSpc>
              </a:pPr>
              <a:r>
                <a:rPr lang="en-US" sz="42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AI&amp;TinyML</a:t>
              </a:r>
              <a:endParaRPr lang="en-US" sz="4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9</a:t>
            </a:r>
            <a:endParaRPr lang="en-US" sz="1800" dirty="0">
              <a:solidFill>
                <a:srgbClr val="B5B5B5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26" name="Freeform 26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95"/>
              </a:stretch>
            </a:blipFill>
          </p:spPr>
        </p:sp>
      </p:grpSp>
      <p:sp>
        <p:nvSpPr>
          <p:cNvPr id="28" name="TextBox 24"/>
          <p:cNvSpPr txBox="1"/>
          <p:nvPr/>
        </p:nvSpPr>
        <p:spPr>
          <a:xfrm>
            <a:off x="828246" y="1908458"/>
            <a:ext cx="8955996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7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6.AI&amp;TinyML</a:t>
            </a:r>
            <a:endParaRPr lang="en-US" sz="2700" b="1" dirty="0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684" y="2437154"/>
            <a:ext cx="11739372" cy="640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2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4536"/>
                </a:lnSpc>
              </a:pPr>
              <a:r>
                <a:rPr lang="en-US" sz="42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Flow</a:t>
              </a:r>
              <a:endParaRPr lang="en-US" sz="4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9</a:t>
            </a:r>
            <a:endParaRPr lang="en-US" sz="1800" dirty="0">
              <a:solidFill>
                <a:srgbClr val="B5B5B5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26" name="Freeform 26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95"/>
              </a:stretch>
            </a:blipFill>
          </p:spPr>
        </p:sp>
      </p:grpSp>
      <p:sp>
        <p:nvSpPr>
          <p:cNvPr id="28" name="TextBox 24"/>
          <p:cNvSpPr txBox="1"/>
          <p:nvPr/>
        </p:nvSpPr>
        <p:spPr>
          <a:xfrm>
            <a:off x="828246" y="1908458"/>
            <a:ext cx="8955996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7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7.User Flow</a:t>
            </a:r>
            <a:endParaRPr lang="en-US" sz="2700" b="1" dirty="0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321006"/>
            <a:ext cx="12371070" cy="690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1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47800"/>
            <a:chOff x="0" y="0"/>
            <a:chExt cx="24384000" cy="193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30400"/>
            </a:xfrm>
            <a:custGeom>
              <a:avLst/>
              <a:gdLst/>
              <a:ahLst/>
              <a:cxnLst/>
              <a:rect l="l" t="t" r="r" b="b"/>
              <a:pathLst>
                <a:path w="24384000" h="1930400">
                  <a:moveTo>
                    <a:pt x="0" y="0"/>
                  </a:moveTo>
                  <a:lnTo>
                    <a:pt x="24384000" y="0"/>
                  </a:lnTo>
                  <a:lnTo>
                    <a:pt x="24384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21696" y="168488"/>
            <a:ext cx="2707338" cy="1172699"/>
            <a:chOff x="0" y="0"/>
            <a:chExt cx="3609784" cy="15635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9848" cy="1563624"/>
            </a:xfrm>
            <a:custGeom>
              <a:avLst/>
              <a:gdLst/>
              <a:ahLst/>
              <a:cxnLst/>
              <a:rect l="l" t="t" r="r" b="b"/>
              <a:pathLst>
                <a:path w="3609848" h="1563624">
                  <a:moveTo>
                    <a:pt x="0" y="0"/>
                  </a:moveTo>
                  <a:lnTo>
                    <a:pt x="3609848" y="0"/>
                  </a:lnTo>
                  <a:lnTo>
                    <a:pt x="3609848" y="1563624"/>
                  </a:lnTo>
                  <a:lnTo>
                    <a:pt x="0" y="1563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88670" y="285788"/>
            <a:ext cx="15773400" cy="1066619"/>
            <a:chOff x="0" y="0"/>
            <a:chExt cx="21031200" cy="14221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31200" cy="1422162"/>
            </a:xfrm>
            <a:custGeom>
              <a:avLst/>
              <a:gdLst/>
              <a:ahLst/>
              <a:cxnLst/>
              <a:rect l="l" t="t" r="r" b="b"/>
              <a:pathLst>
                <a:path w="21031200" h="1422162">
                  <a:moveTo>
                    <a:pt x="0" y="0"/>
                  </a:moveTo>
                  <a:lnTo>
                    <a:pt x="21031200" y="0"/>
                  </a:lnTo>
                  <a:lnTo>
                    <a:pt x="21031200" y="1422162"/>
                  </a:lnTo>
                  <a:lnTo>
                    <a:pt x="0" y="1422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8148" b="-2381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21031200" cy="139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4536"/>
                </a:lnSpc>
              </a:pPr>
              <a:r>
                <a:rPr lang="en-US" sz="42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&amp; Milestones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B5B5B5"/>
                </a:solidFill>
                <a:latin typeface="Quattrocento"/>
                <a:ea typeface="Quattrocento"/>
                <a:cs typeface="Quattrocento"/>
                <a:sym typeface="Quattrocento"/>
              </a:rPr>
              <a:t>9</a:t>
            </a:r>
            <a:endParaRPr lang="en-US" sz="1800" dirty="0">
              <a:solidFill>
                <a:srgbClr val="B5B5B5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23504" y="2501163"/>
            <a:ext cx="8955996" cy="35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Thuyết</a:t>
            </a:r>
            <a:r>
              <a:rPr lang="en-US" sz="16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minh </a:t>
            </a: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về</a:t>
            </a:r>
            <a:r>
              <a:rPr lang="en-US" sz="16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r>
              <a:rPr lang="en-US" sz="16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phầm</a:t>
            </a:r>
            <a:r>
              <a:rPr lang="en-US" sz="16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hoạt</a:t>
            </a:r>
            <a:r>
              <a:rPr lang="en-US" sz="16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16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16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tế</a:t>
            </a:r>
            <a:endParaRPr lang="en-US" sz="1600" b="1" dirty="0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4949688" y="425663"/>
            <a:ext cx="1112834" cy="660730"/>
            <a:chOff x="0" y="0"/>
            <a:chExt cx="1483779" cy="880974"/>
          </a:xfrm>
        </p:grpSpPr>
        <p:sp>
          <p:nvSpPr>
            <p:cNvPr id="26" name="Freeform 26" descr="A white logo with a black background  AI-generated content may be incorrect."/>
            <p:cNvSpPr/>
            <p:nvPr/>
          </p:nvSpPr>
          <p:spPr>
            <a:xfrm>
              <a:off x="0" y="0"/>
              <a:ext cx="1483741" cy="880999"/>
            </a:xfrm>
            <a:custGeom>
              <a:avLst/>
              <a:gdLst/>
              <a:ahLst/>
              <a:cxnLst/>
              <a:rect l="l" t="t" r="r" b="b"/>
              <a:pathLst>
                <a:path w="1483741" h="880999">
                  <a:moveTo>
                    <a:pt x="0" y="0"/>
                  </a:moveTo>
                  <a:lnTo>
                    <a:pt x="1483741" y="0"/>
                  </a:lnTo>
                  <a:lnTo>
                    <a:pt x="1483741" y="880999"/>
                  </a:lnTo>
                  <a:lnTo>
                    <a:pt x="0" y="88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95"/>
              </a:stretch>
            </a:blipFill>
          </p:spPr>
        </p:sp>
      </p:grpSp>
      <p:sp>
        <p:nvSpPr>
          <p:cNvPr id="28" name="TextBox 24"/>
          <p:cNvSpPr txBox="1"/>
          <p:nvPr/>
        </p:nvSpPr>
        <p:spPr>
          <a:xfrm>
            <a:off x="828246" y="1908458"/>
            <a:ext cx="8955996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700" b="1" dirty="0" smtClean="0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8.1.</a:t>
            </a:r>
            <a:r>
              <a:rPr lang="en-US" sz="2700" b="1" dirty="0" smtClean="0">
                <a:solidFill>
                  <a:srgbClr val="034EA2"/>
                </a:solidFill>
                <a:latin typeface="Arial" panose="020B0604020202020204" pitchFamily="34" charset="0"/>
                <a:ea typeface="Quattrocento"/>
                <a:cs typeface="Arial" panose="020B0604020202020204" pitchFamily="34" charset="0"/>
                <a:sym typeface="Quattrocento"/>
              </a:rPr>
              <a:t>Demo</a:t>
            </a:r>
            <a:endParaRPr lang="en-US" sz="2700" b="1" dirty="0">
              <a:solidFill>
                <a:srgbClr val="034EA2"/>
              </a:solidFill>
              <a:latin typeface="Arial" panose="020B0604020202020204" pitchFamily="34" charset="0"/>
              <a:ea typeface="Quattrocento"/>
              <a:cs typeface="Arial" panose="020B0604020202020204" pitchFamily="34" charset="0"/>
              <a:sym typeface="Quattrocento"/>
            </a:endParaRPr>
          </a:p>
        </p:txBody>
      </p:sp>
    </p:spTree>
    <p:extLst>
      <p:ext uri="{BB962C8B-B14F-4D97-AF65-F5344CB8AC3E}">
        <p14:creationId xmlns:p14="http://schemas.microsoft.com/office/powerpoint/2010/main" val="190055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-640080" y="8840448"/>
            <a:ext cx="400050" cy="1028719"/>
            <a:chOff x="0" y="0"/>
            <a:chExt cx="533400" cy="13716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B5B5B5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-640080" y="1677648"/>
            <a:ext cx="400050" cy="1028719"/>
            <a:chOff x="0" y="0"/>
            <a:chExt cx="533400" cy="13716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034EA2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-640080" y="2871445"/>
            <a:ext cx="400050" cy="1028719"/>
            <a:chOff x="0" y="0"/>
            <a:chExt cx="533400" cy="13716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19226D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-640080" y="4065241"/>
            <a:ext cx="400050" cy="1028719"/>
            <a:chOff x="0" y="0"/>
            <a:chExt cx="533400" cy="13716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33B2C1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-640080" y="5259048"/>
            <a:ext cx="400050" cy="1028719"/>
            <a:chOff x="0" y="0"/>
            <a:chExt cx="533400" cy="13716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50B848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-640080" y="6452845"/>
            <a:ext cx="400050" cy="1028719"/>
            <a:chOff x="0" y="0"/>
            <a:chExt cx="533400" cy="13716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F37121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-640080" y="7646641"/>
            <a:ext cx="400050" cy="1028719"/>
            <a:chOff x="0" y="0"/>
            <a:chExt cx="533400" cy="13716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3400" cy="1371600"/>
            </a:xfrm>
            <a:custGeom>
              <a:avLst/>
              <a:gdLst/>
              <a:ahLst/>
              <a:cxnLst/>
              <a:rect l="l" t="t" r="r" b="b"/>
              <a:pathLst>
                <a:path w="533400" h="13716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88061" y="0"/>
                  </a:lnTo>
                  <a:cubicBezTo>
                    <a:pt x="513080" y="0"/>
                    <a:pt x="533400" y="20320"/>
                    <a:pt x="533400" y="45339"/>
                  </a:cubicBezTo>
                  <a:lnTo>
                    <a:pt x="533400" y="1326261"/>
                  </a:lnTo>
                  <a:cubicBezTo>
                    <a:pt x="533400" y="1351280"/>
                    <a:pt x="513080" y="1371600"/>
                    <a:pt x="488061" y="1371600"/>
                  </a:cubicBezTo>
                  <a:lnTo>
                    <a:pt x="45339" y="1371600"/>
                  </a:lnTo>
                  <a:cubicBezTo>
                    <a:pt x="20320" y="1371600"/>
                    <a:pt x="0" y="1351280"/>
                    <a:pt x="0" y="1326261"/>
                  </a:cubicBezTo>
                  <a:close/>
                </a:path>
              </a:pathLst>
            </a:custGeom>
            <a:solidFill>
              <a:srgbClr val="E4E5E6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7059237" y="9659426"/>
            <a:ext cx="711451" cy="27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dirty="0" smtClean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17</a:t>
            </a:r>
            <a:endParaRPr lang="en-US" sz="1800" dirty="0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373</Words>
  <Application>Microsoft Office PowerPoint</Application>
  <PresentationFormat>Custom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Bold</vt:lpstr>
      <vt:lpstr>Arial</vt:lpstr>
      <vt:lpstr>Quattrocento</vt:lpstr>
      <vt:lpstr>Calibri</vt:lpstr>
      <vt:lpstr>Quattrocento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Challenge 2026 - Report Template.pptx</dc:title>
  <cp:lastModifiedBy>Adminnitrator</cp:lastModifiedBy>
  <cp:revision>53</cp:revision>
  <dcterms:created xsi:type="dcterms:W3CDTF">2006-08-16T00:00:00Z</dcterms:created>
  <dcterms:modified xsi:type="dcterms:W3CDTF">2026-07-24T15:50:08Z</dcterms:modified>
  <dc:identifier>DAHJeK1TmIk</dc:identifier>
</cp:coreProperties>
</file>